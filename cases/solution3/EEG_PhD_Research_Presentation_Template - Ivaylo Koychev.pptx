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6858000" cy="9144000"/>
  <p:embeddedFontLst>
    <p:embeddedFont>
      <p:font typeface="Roboto Slab"/>
      <p:regular r:id="rId29"/>
      <p:bold r:id="rId30"/>
    </p:embeddedFon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lab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font" Target="fonts/RobotoSlab-bold.fntdata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fb802bf1a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fb802bf1a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fb802bf1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fb802bf1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fb802bf1a_1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fb802bf1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fb802bf1a_1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fb802bf1a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fb802bf1a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fb802bf1a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fb802bf1a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fb802bf1a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fb802bf1a_1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fb802bf1a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fb802bf1a_1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fb802bf1a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fb802bf1a_1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fb802bf1a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fb802bf1a_2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fb802bf1a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1891353" y="2009419"/>
            <a:ext cx="5361300" cy="19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EEG Case Study</a:t>
            </a:r>
            <a:endParaRPr/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1680302" y="4574608"/>
            <a:ext cx="57834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33333"/>
              <a:buNone/>
            </a:pPr>
            <a:r>
              <a:rPr lang="en-US"/>
              <a:t>Case</a:t>
            </a:r>
            <a:r>
              <a:rPr lang="en-US"/>
              <a:t> 3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33333"/>
              <a:buNone/>
            </a:pPr>
            <a:r>
              <a:rPr lang="en-US"/>
              <a:t>Gergana, </a:t>
            </a:r>
            <a:r>
              <a:rPr lang="en-US"/>
              <a:t>Ivaylo, Nikolay</a:t>
            </a:r>
            <a:r>
              <a:rPr lang="en-US"/>
              <a:t>, </a:t>
            </a:r>
            <a:r>
              <a:rPr lang="en-US"/>
              <a:t>Yanko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33333"/>
              <a:buNone/>
            </a:pPr>
            <a:r>
              <a:rPr lang="en-US"/>
              <a:t>28.06.2026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33333"/>
              <a:buNone/>
            </a:pPr>
            <a:r>
              <a:rPr lang="en-US"/>
              <a:t>Summer School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Presentation Overview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Background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EEG Device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Five Research Questions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Results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Discussion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Conclusions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Background &amp; Objectives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44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Experimental Design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Collecting Data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The 5 Research Questions</a:t>
            </a:r>
            <a:endParaRPr sz="2200"/>
          </a:p>
          <a:p>
            <a:pPr indent="0" lvl="0" marL="457200" rtl="0" algn="l"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None/>
            </a:pPr>
            <a:r>
              <a:rPr lang="en-US" sz="2200"/>
              <a:t>AI vs Human Coding</a:t>
            </a:r>
            <a:endParaRPr sz="2200"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None/>
            </a:pPr>
            <a:r>
              <a:rPr lang="en-US" sz="2200"/>
              <a:t>Person Identification</a:t>
            </a:r>
            <a:endParaRPr sz="2200"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None/>
            </a:pPr>
            <a:r>
              <a:rPr lang="en-US" sz="2200"/>
              <a:t>Activity Classification</a:t>
            </a:r>
            <a:endParaRPr sz="2200"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None/>
            </a:pPr>
            <a:r>
              <a:rPr lang="en-US" sz="2200"/>
              <a:t>Gender Differences in the EEG</a:t>
            </a:r>
            <a:endParaRPr sz="2200"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None/>
            </a:pPr>
            <a:r>
              <a:rPr lang="en-US" sz="2200"/>
              <a:t>Attention Span</a:t>
            </a:r>
            <a:endParaRPr sz="2200"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EEG Device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11468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200"/>
              <a:t>Device overview</a:t>
            </a:r>
            <a:endParaRPr/>
          </a:p>
          <a:p>
            <a:pPr indent="-311468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200"/>
              <a:t>Key specifications</a:t>
            </a:r>
            <a:endParaRPr/>
          </a:p>
          <a:p>
            <a:pPr indent="-311468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200"/>
              <a:t>Advantages &amp; limitations</a:t>
            </a:r>
            <a:endParaRPr sz="22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Delta(δ) 0.5 - 4 Hz Dreamless sleep (deep meditation)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Theta(θ) 4 - 8 Hz Deeply relaxed, inward focused (drowsiness, vivid dreams)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Alpha(α) 7.5 - 13 Hz Very relaxed, passive attention (thoughtful times, reflective, restful)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Beta(β) 13 - 30 Hz Anxiety dominant, active, external attention, relaxed (busy mind)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Gamma(γ) 30 - 44 Hz Concentration (higher levels of consciousness, problem solving)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Experimental Design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Participants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Protocol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Tasks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Data acquisition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Preprocessing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spcBef>
                <a:spcPts val="36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Sentinel removal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KNN interpolation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Band-pass (1–50 Hz)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Notch (50 Hz)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Epoch creation - 2s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Amplitude threshold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6348" y="1630687"/>
            <a:ext cx="5793050" cy="4736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engineering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518650" y="1829900"/>
            <a:ext cx="8229600" cy="357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Segmentation: The original time-domain signal is broken down into smaller subsections, which often overlap (e.g., 50% overlap).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Windowing: A mathematical window function (such as a Hann or Hamming window) is applied to each subsection to mitigate spectral leakage.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Periodogram Calculation: The periodogram (the squared magnitude of the Fast Fourier Transform, or FFT) is computed for each individual windowed segment.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Averaging: These individual periodograms are averaged together to produce a single, smoothed PSD estimate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313" y="716600"/>
            <a:ext cx="5239376" cy="542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</a:t>
            </a:r>
            <a:r>
              <a:rPr lang="en-US"/>
              <a:t> </a:t>
            </a:r>
            <a:r>
              <a:rPr lang="en-US"/>
              <a:t>engineering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500" y="2921070"/>
            <a:ext cx="7992976" cy="264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457200" y="1600200"/>
            <a:ext cx="8229600" cy="902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rPr lang="en-US"/>
              <a:t>2 s non-overlapping epochs → Welch PSD → **16 features** (4 bands × 4 channels)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Case 1 - AI vs. Human Coding (vs. Neutral Baseline)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Objective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Method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Case 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2 - Person Identification (EEG Biometrics) </a:t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50" y="2178738"/>
            <a:ext cx="8448675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457200" y="568842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Case 2 - Person Identification (EEG Biometrics)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3" y="2006263"/>
            <a:ext cx="8448675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457200" y="571654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Case 2 - Person Identification (EEG Biometrics)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001" y="2502200"/>
            <a:ext cx="8447998" cy="256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Case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 - Activity Classification</a:t>
            </a:r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0038"/>
            <a:ext cx="8839199" cy="4282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457200" y="356573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Case 3 - Activity Classification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1488"/>
            <a:ext cx="8658225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7" y="1733238"/>
            <a:ext cx="8229601" cy="339151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0"/>
          <p:cNvSpPr txBox="1"/>
          <p:nvPr>
            <p:ph type="title"/>
          </p:nvPr>
        </p:nvSpPr>
        <p:spPr>
          <a:xfrm>
            <a:off x="457200" y="356573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Case 3 - Activity Classification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Case 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4 - </a:t>
            </a: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Sex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Differences in Resting-State EEG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Objective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Method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Case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5 - Attention Span Across Content Types</a:t>
            </a:r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457200" y="1600200"/>
            <a:ext cx="8229600" cy="46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Objective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Method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Results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Key finding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833425"/>
            <a:ext cx="6400800" cy="5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Results</a:t>
            </a:r>
            <a:endParaRPr/>
          </a:p>
        </p:txBody>
      </p:sp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Summary</a:t>
            </a:r>
            <a:endParaRPr sz="2200"/>
          </a:p>
          <a:p>
            <a:pPr indent="-368300" lvl="0" marL="342900" rtl="0" algn="l">
              <a:spcBef>
                <a:spcPts val="440"/>
              </a:spcBef>
              <a:spcAft>
                <a:spcPts val="1200"/>
              </a:spcAft>
              <a:buSzPts val="2200"/>
              <a:buChar char="●"/>
            </a:pPr>
            <a:r>
              <a:rPr lang="en-US" sz="2200"/>
              <a:t>Limitations</a:t>
            </a:r>
            <a:endParaRPr sz="2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Conclusions &amp; Future Work</a:t>
            </a:r>
            <a:endParaRPr/>
          </a:p>
        </p:txBody>
      </p:sp>
      <p:sp>
        <p:nvSpPr>
          <p:cNvPr id="195" name="Google Shape;195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Main conclusions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Practical implications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Future research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