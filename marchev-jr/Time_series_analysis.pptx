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46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7.xml" ContentType="application/vnd.openxmlformats-officedocument.presentationml.slide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9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35.xml.rels" ContentType="application/vnd.openxmlformats-package.relationships+xml"/>
  <Override PartName="/ppt/slides/_rels/slide36.xml.rels" ContentType="application/vnd.openxmlformats-package.relationships+xml"/>
  <Override PartName="/ppt/slides/_rels/slide53.xml.rels" ContentType="application/vnd.openxmlformats-package.relationships+xml"/>
  <Override PartName="/ppt/slides/_rels/slide52.xml.rels" ContentType="application/vnd.openxmlformats-package.relationships+xml"/>
  <Override PartName="/ppt/slides/_rels/slide49.xml.rels" ContentType="application/vnd.openxmlformats-package.relationships+xml"/>
  <Override PartName="/ppt/slides/_rels/slide12.xml.rels" ContentType="application/vnd.openxmlformats-package.relationships+xml"/>
  <Override PartName="/ppt/slides/_rels/slide51.xml.rels" ContentType="application/vnd.openxmlformats-package.relationships+xml"/>
  <Override PartName="/ppt/slides/_rels/slide13.xml.rels" ContentType="application/vnd.openxmlformats-package.relationships+xml"/>
  <Override PartName="/ppt/slides/_rels/slide47.xml.rels" ContentType="application/vnd.openxmlformats-package.relationships+xml"/>
  <Override PartName="/ppt/slides/_rels/slide10.xml.rels" ContentType="application/vnd.openxmlformats-package.relationships+xml"/>
  <Override PartName="/ppt/slides/_rels/slide45.xml.rels" ContentType="application/vnd.openxmlformats-package.relationships+xml"/>
  <Override PartName="/ppt/slides/_rels/slide46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8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37.xml.rels" ContentType="application/vnd.openxmlformats-package.relationships+xml"/>
  <Override PartName="/ppt/slides/_rels/slide29.xml.rels" ContentType="application/vnd.openxmlformats-package.relationships+xml"/>
  <Override PartName="/ppt/slides/_rels/slide11.xml.rels" ContentType="application/vnd.openxmlformats-package.relationships+xml"/>
  <Override PartName="/ppt/slides/_rels/slide48.xml.rels" ContentType="application/vnd.openxmlformats-package.relationships+xml"/>
  <Override PartName="/ppt/slides/_rels/slide50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42.xml.rels" ContentType="application/vnd.openxmlformats-package.relationships+xml"/>
  <Override PartName="/ppt/slides/_rels/slide43.xml.rels" ContentType="application/vnd.openxmlformats-package.relationships+xml"/>
  <Override PartName="/ppt/slides/_rels/slide44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slide38.xml" ContentType="application/vnd.openxmlformats-officedocument.presentationml.slide+xml"/>
  <Override PartName="/ppt/slides/slide40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39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55.png" ContentType="image/png"/>
  <Override PartName="/ppt/media/image12.wmf" ContentType="image/x-wmf"/>
  <Override PartName="/ppt/media/image53.png" ContentType="image/png"/>
  <Override PartName="/ppt/media/image49.png" ContentType="image/png"/>
  <Override PartName="/ppt/media/image48.png" ContentType="image/png"/>
  <Override PartName="/ppt/media/image46.png" ContentType="image/png"/>
  <Override PartName="/ppt/media/image45.wmf" ContentType="image/x-wmf"/>
  <Override PartName="/ppt/media/image44.png" ContentType="image/png"/>
  <Override PartName="/ppt/media/image33.png" ContentType="image/png"/>
  <Override PartName="/ppt/media/image38.png" ContentType="image/png"/>
  <Override PartName="/ppt/media/image6.png" ContentType="image/png"/>
  <Override PartName="/ppt/media/image15.png" ContentType="image/png"/>
  <Override PartName="/ppt/media/image37.png" ContentType="image/png"/>
  <Override PartName="/ppt/media/image5.png" ContentType="image/png"/>
  <Override PartName="/ppt/media/image14.png" ContentType="image/png"/>
  <Override PartName="/ppt/media/image36.png" ContentType="image/png"/>
  <Override PartName="/ppt/media/image4.png" ContentType="image/png"/>
  <Override PartName="/ppt/media/image35.png" ContentType="image/png"/>
  <Override PartName="/ppt/media/image3.png" ContentType="image/png"/>
  <Override PartName="/ppt/media/image34.png" ContentType="image/png"/>
  <Override PartName="/ppt/media/image2.png" ContentType="image/png"/>
  <Override PartName="/ppt/media/image19.png" ContentType="image/png"/>
  <Override PartName="/ppt/media/image61.png" ContentType="image/png"/>
  <Override PartName="/ppt/media/image21.png" ContentType="image/png"/>
  <Override PartName="/ppt/media/image67.png" ContentType="image/png"/>
  <Override PartName="/ppt/media/image30.png" ContentType="image/png"/>
  <Override PartName="/ppt/media/image65.png" ContentType="image/png"/>
  <Override PartName="/ppt/media/image64.png" ContentType="image/png"/>
  <Override PartName="/ppt/media/image66.png" ContentType="image/png"/>
  <Override PartName="/ppt/media/image29.png" ContentType="image/png"/>
  <Override PartName="/ppt/media/image63.png" ContentType="image/png"/>
  <Override PartName="/ppt/media/image62.png" ContentType="image/png"/>
  <Override PartName="/ppt/media/image25.png" ContentType="image/png"/>
  <Override PartName="/ppt/media/image59.png" ContentType="image/png"/>
  <Override PartName="/ppt/media/image22.png" ContentType="image/png"/>
  <Override PartName="/ppt/media/image24.png" ContentType="image/png"/>
  <Override PartName="/ppt/media/image60.png" ContentType="image/png"/>
  <Override PartName="/ppt/media/image58.wmf" ContentType="image/x-wmf"/>
  <Override PartName="/ppt/media/image23.png" ContentType="image/png"/>
  <Override PartName="/ppt/media/image1.png" ContentType="image/png"/>
  <Override PartName="/ppt/media/image10.png" ContentType="image/png"/>
  <Override PartName="/ppt/media/image47.png" ContentType="image/png"/>
  <Override PartName="/ppt/media/image56.wmf" ContentType="image/x-wmf"/>
  <Override PartName="/ppt/media/image16.png" ContentType="image/png"/>
  <Override PartName="/ppt/media/image7.png" ContentType="image/png"/>
  <Override PartName="/ppt/media/image39.png" ContentType="image/png"/>
  <Override PartName="/ppt/media/image57.wmf" ContentType="image/x-wmf"/>
  <Override PartName="/ppt/media/image17.png" ContentType="image/png"/>
  <Override PartName="/ppt/media/image8.png" ContentType="image/png"/>
  <Override PartName="/ppt/media/image43.wmf" ContentType="image/x-wmf"/>
  <Override PartName="/ppt/media/image26.png" ContentType="image/png"/>
  <Override PartName="/ppt/media/image11.wmf" ContentType="image/x-wmf"/>
  <Override PartName="/ppt/media/image50.png" ContentType="image/png"/>
  <Override PartName="/ppt/media/image20.png" ContentType="image/png"/>
  <Override PartName="/ppt/media/image18.png" ContentType="image/png"/>
  <Override PartName="/ppt/media/image9.png" ContentType="image/png"/>
  <Override PartName="/ppt/media/image27.png" ContentType="image/png"/>
  <Override PartName="/ppt/media/image51.png" ContentType="image/png"/>
  <Override PartName="/ppt/media/image28.png" ContentType="image/png"/>
  <Override PartName="/ppt/media/image13.wmf" ContentType="image/x-wmf"/>
  <Override PartName="/ppt/media/image54.tif" ContentType="image/tiff"/>
  <Override PartName="/ppt/media/image52.png" ContentType="image/png"/>
  <Override PartName="/ppt/media/image31.png" ContentType="image/png"/>
  <Override PartName="/ppt/media/image32.png" ContentType="image/png"/>
  <Override PartName="/ppt/media/image40.png" ContentType="image/png"/>
  <Override PartName="/ppt/media/image41.png" ContentType="image/png"/>
  <Override PartName="/ppt/media/image4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292" r:id="rId50"/>
    <p:sldId id="293" r:id="rId51"/>
    <p:sldId id="294" r:id="rId52"/>
    <p:sldId id="295" r:id="rId53"/>
    <p:sldId id="296" r:id="rId54"/>
    <p:sldId id="297" r:id="rId55"/>
    <p:sldId id="298" r:id="rId56"/>
    <p:sldId id="299" r:id="rId57"/>
    <p:sldId id="300" r:id="rId58"/>
    <p:sldId id="301" r:id="rId59"/>
    <p:sldId id="302" r:id="rId60"/>
    <p:sldId id="303" r:id="rId61"/>
    <p:sldId id="304" r:id="rId62"/>
    <p:sldId id="305" r:id="rId63"/>
    <p:sldId id="306" r:id="rId64"/>
    <p:sldId id="307" r:id="rId65"/>
    <p:sldId id="308" r:id="rId66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39.xml"/><Relationship Id="rId53" Type="http://schemas.openxmlformats.org/officeDocument/2006/relationships/slide" Target="slides/slide40.xml"/><Relationship Id="rId54" Type="http://schemas.openxmlformats.org/officeDocument/2006/relationships/slide" Target="slides/slide41.xml"/><Relationship Id="rId55" Type="http://schemas.openxmlformats.org/officeDocument/2006/relationships/slide" Target="slides/slide42.xml"/><Relationship Id="rId56" Type="http://schemas.openxmlformats.org/officeDocument/2006/relationships/slide" Target="slides/slide43.xml"/><Relationship Id="rId57" Type="http://schemas.openxmlformats.org/officeDocument/2006/relationships/slide" Target="slides/slide44.xml"/><Relationship Id="rId58" Type="http://schemas.openxmlformats.org/officeDocument/2006/relationships/slide" Target="slides/slide45.xml"/><Relationship Id="rId59" Type="http://schemas.openxmlformats.org/officeDocument/2006/relationships/slide" Target="slides/slide46.xml"/><Relationship Id="rId60" Type="http://schemas.openxmlformats.org/officeDocument/2006/relationships/slide" Target="slides/slide47.xml"/><Relationship Id="rId61" Type="http://schemas.openxmlformats.org/officeDocument/2006/relationships/slide" Target="slides/slide48.xml"/><Relationship Id="rId62" Type="http://schemas.openxmlformats.org/officeDocument/2006/relationships/slide" Target="slides/slide49.xml"/><Relationship Id="rId63" Type="http://schemas.openxmlformats.org/officeDocument/2006/relationships/slide" Target="slides/slide50.xml"/><Relationship Id="rId64" Type="http://schemas.openxmlformats.org/officeDocument/2006/relationships/slide" Target="slides/slide51.xml"/><Relationship Id="rId65" Type="http://schemas.openxmlformats.org/officeDocument/2006/relationships/slide" Target="slides/slide52.xml"/><Relationship Id="rId66" Type="http://schemas.openxmlformats.org/officeDocument/2006/relationships/slide" Target="slides/slide53.xml"/><Relationship Id="rId6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bg-BG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63545E-0966-4505-8206-3C8D9D874D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8EE7DC-DE90-477E-9DEA-91243CD1184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27875CC-9648-44AD-BE81-9B568E7AC57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bg-BG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6D7FEBC-4C24-4AD6-9154-E8603BDFA01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bg-BG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D0AEE901-4FB6-42D7-BED9-22FAC9CC08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5367235A-0BAE-4D93-8E50-2C663D032FD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bg-BG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BE36847B-E1B8-48DB-9A85-5920C413678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7E705DE6-D7EC-4EFD-A953-B54B8024C9E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bg-BG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C6D22B95-71E9-4631-B360-804BD8D44EA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0B21EF57-49E0-4A9A-8942-8E6D6634707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92B1B09F-E469-4913-8AFD-15E4484AB85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D0194A69-B135-4C76-87C9-C19CFF9E473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Click to edit Master title </a:t>
            </a: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style</a:t>
            </a:r>
            <a:endParaRPr b="0" lang="bg-BG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DF0819-4C05-40A3-AE89-345C423F1F48}" type="slidenum">
              <a: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9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bg-BG" sz="2800" spc="-1" strike="noStrike">
                <a:solidFill>
                  <a:schemeClr val="dk1"/>
                </a:solidFill>
                <a:latin typeface="Calibri"/>
              </a:rPr>
              <a:t>Click to edit the outline </a:t>
            </a:r>
            <a:r>
              <a:rPr b="0" lang="bg-BG" sz="2800" spc="-1" strike="noStrike">
                <a:solidFill>
                  <a:schemeClr val="dk1"/>
                </a:solidFill>
                <a:latin typeface="Calibri"/>
              </a:rPr>
              <a:t>text format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bg-BG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bg-BG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bg-BG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bg-BG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bg-BG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bg-BG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bg-BG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bg-BG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bg-BG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bg-BG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bg-BG" sz="2000" spc="-1" strike="noStrike">
                <a:solidFill>
                  <a:schemeClr val="dk1"/>
                </a:solidFill>
                <a:latin typeface="Calibri"/>
              </a:rPr>
              <a:t>Seventh Outline </a:t>
            </a:r>
            <a:r>
              <a:rPr b="0" lang="bg-BG" sz="2000" spc="-1" strike="noStrike">
                <a:solidFill>
                  <a:schemeClr val="dk1"/>
                </a:solidFill>
                <a:latin typeface="Calibri"/>
              </a:rPr>
              <a:t>Level</a:t>
            </a:r>
            <a:endParaRPr b="0" lang="bg-BG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Master text 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styles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level</a:t>
            </a:r>
            <a:endParaRPr b="0" lang="bg-BG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bg-BG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level</a:t>
            </a:r>
            <a:endParaRPr b="0" lang="bg-BG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h 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lev</a:t>
            </a: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el</a:t>
            </a:r>
            <a:endParaRPr b="0" lang="bg-BG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79B3EF-DEF1-495F-9994-7455D8CC5FCB}" type="slidenum">
              <a: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bg-BG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bg-BG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bg-BG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bg-BG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5DA61B-C73F-4E81-870B-8DD47B5D4AF5}" type="slidenum">
              <a: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bg-BG" sz="44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bg-BG" sz="1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bg-BG" sz="1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bg-BG" sz="18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bg-BG" sz="1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bg-BG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bg-BG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bg-BG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bg-BG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bg-BG" sz="18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bg-BG" sz="18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bg-BG" sz="18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bg-BG" sz="18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bg-BG" sz="18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bg-BG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82675C-5AC3-4566-84BE-88C73C55D0A5}" type="slidenum">
              <a: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bg-BG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bg-BG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bg-BG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bg-BG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F5C30C-8466-4508-990B-FB6CCBF0061E}" type="slidenum">
              <a: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bg-BG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bg-BG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1628B4-0F2E-484A-950D-09C0F10C5B52}" type="slidenum">
              <a: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bg-BG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bg-BG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bg-BG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bg-BG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bg-BG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bg-BG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bg-BG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bg-BG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A3CC03-7B9E-4D6B-AA31-EED40AD97DDD}" type="slidenum">
              <a: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bg-BG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bg-BG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bg-BG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bg-BG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bg-BG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bg-BG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bg-BG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bg-BG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bg-BG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bg-BG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7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8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DB0D3B-48ED-456E-AF1B-A4B89E8FF35C}" type="slidenum">
              <a: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C983E6-827D-4701-AFC0-F27DFD9D2C70}" type="slidenum">
              <a: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1A82EA-0139-4923-A9DF-CB9207E18FAA}" type="slidenum">
              <a: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bg-BG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bg-BG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bg-BG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bg-BG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bg-BG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bg-BG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bg-BG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bg-BG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bg-BG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bg-BG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bg-BG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bg-BG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bg-BG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bg-BG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bg-BG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bg-BG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bg-BG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bg-BG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bg-BG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bg-BG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bg-BG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B92A50-C49C-45A5-982D-3B87D5ADD773}" type="slidenum">
              <a: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bg-BG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bg-BG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bg-BG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bg-BG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bg-BG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bg-BG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bg-BG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bg-BG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bg-BG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bg-BG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bg-BG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bg-BG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bg-BG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bg-BG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bg-BG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bg-BG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D775D6-4F75-4CCF-B006-E3633F196E24}" type="slidenum">
              <a:rPr b="0" lang="bg-BG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wmf"/><Relationship Id="rId2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wmf"/><Relationship Id="rId2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wmf"/><Relationship Id="rId2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0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10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0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10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0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0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10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10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slideLayout" Target="../slideLayouts/slideLayout10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slideLayout" Target="../slideLayouts/slideLayout10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0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slideLayout" Target="../slideLayouts/slideLayout10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10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image" Target="../media/image7.png"/><Relationship Id="rId3" Type="http://schemas.openxmlformats.org/officeDocument/2006/relationships/image" Target="../media/image43.wmf"/><Relationship Id="rId4" Type="http://schemas.openxmlformats.org/officeDocument/2006/relationships/slideLayout" Target="../slideLayouts/slideLayout5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slideLayout" Target="../slideLayouts/slideLayout5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45.wmf"/><Relationship Id="rId2" Type="http://schemas.openxmlformats.org/officeDocument/2006/relationships/image" Target="../media/image46.png"/><Relationship Id="rId3" Type="http://schemas.openxmlformats.org/officeDocument/2006/relationships/slideLayout" Target="../slideLayouts/slideLayout5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slideLayout" Target="../slideLayouts/slideLayout5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slideLayout" Target="../slideLayouts/slideLayout5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slideLayout" Target="../slideLayouts/slideLayout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slideLayout" Target="../slideLayouts/slideLayout5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slideLayout" Target="../slideLayouts/slideLayout5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52.png"/><Relationship Id="rId2" Type="http://schemas.openxmlformats.org/officeDocument/2006/relationships/slideLayout" Target="../slideLayouts/slideLayout5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53.png"/><Relationship Id="rId2" Type="http://schemas.openxmlformats.org/officeDocument/2006/relationships/image" Target="../media/image54.tif"/><Relationship Id="rId3" Type="http://schemas.openxmlformats.org/officeDocument/2006/relationships/slideLayout" Target="../slideLayouts/slideLayout5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slideLayout" Target="../slideLayouts/slideLayout5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56.wmf"/><Relationship Id="rId2" Type="http://schemas.openxmlformats.org/officeDocument/2006/relationships/slideLayout" Target="../slideLayouts/slideLayout5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57.wmf"/><Relationship Id="rId2" Type="http://schemas.openxmlformats.org/officeDocument/2006/relationships/slideLayout" Target="../slideLayouts/slideLayout5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58.wmf"/><Relationship Id="rId2" Type="http://schemas.openxmlformats.org/officeDocument/2006/relationships/slideLayout" Target="../slideLayouts/slideLayout5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59.png"/><Relationship Id="rId2" Type="http://schemas.openxmlformats.org/officeDocument/2006/relationships/slideLayout" Target="../slideLayouts/slideLayout5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slideLayout" Target="../slideLayouts/slideLayout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61.png"/><Relationship Id="rId2" Type="http://schemas.openxmlformats.org/officeDocument/2006/relationships/slideLayout" Target="../slideLayouts/slideLayout5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62.png"/><Relationship Id="rId2" Type="http://schemas.openxmlformats.org/officeDocument/2006/relationships/slideLayout" Target="../slideLayouts/slideLayout5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63.png"/><Relationship Id="rId2" Type="http://schemas.openxmlformats.org/officeDocument/2006/relationships/slideLayout" Target="../slideLayouts/slideLayout5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64.png"/><Relationship Id="rId2" Type="http://schemas.openxmlformats.org/officeDocument/2006/relationships/slideLayout" Target="../slideLayouts/slideLayout5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65.png"/><Relationship Id="rId2" Type="http://schemas.openxmlformats.org/officeDocument/2006/relationships/slideLayout" Target="../slideLayouts/slideLayout5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66.png"/><Relationship Id="rId2" Type="http://schemas.openxmlformats.org/officeDocument/2006/relationships/slideLayout" Target="../slideLayouts/slideLayout5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67.png"/><Relationship Id="rId2" Type="http://schemas.openxmlformats.org/officeDocument/2006/relationships/slideLayout" Target="../slideLayouts/slideLayout5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6000" spc="-1" strike="noStrike">
                <a:solidFill>
                  <a:srgbClr val="2b2b2b"/>
                </a:solidFill>
                <a:latin typeface="Quattrocento Sans"/>
              </a:rPr>
              <a:t>Time series analysis</a:t>
            </a:r>
            <a:endParaRPr b="0" lang="bg-BG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Angel Marchev, Jr.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Kaloyan Haralampiev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296360" y="-360000"/>
            <a:ext cx="9143280" cy="143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bg-BG" sz="1800" spc="-1" strike="noStrike">
                <a:solidFill>
                  <a:srgbClr val="000000"/>
                </a:solidFill>
                <a:latin typeface="Calibri"/>
              </a:rPr>
              <a:t>Key topics</a:t>
            </a:r>
            <a:endParaRPr b="0" lang="bg-BG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78" name="Picture 128" descr=""/>
          <p:cNvPicPr/>
          <p:nvPr/>
        </p:nvPicPr>
        <p:blipFill>
          <a:blip r:embed="rId1"/>
          <a:stretch/>
        </p:blipFill>
        <p:spPr>
          <a:xfrm>
            <a:off x="4680000" y="2854800"/>
            <a:ext cx="2436840" cy="1824840"/>
          </a:xfrm>
          <a:prstGeom prst="rect">
            <a:avLst/>
          </a:prstGeom>
          <a:ln w="0">
            <a:noFill/>
          </a:ln>
        </p:spPr>
      </p:pic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187560" y="540000"/>
            <a:ext cx="11872080" cy="6317640"/>
          </a:xfrm>
          <a:prstGeom prst="rect">
            <a:avLst/>
          </a:prstGeom>
          <a:noFill/>
          <a:ln w="0">
            <a:noFill/>
          </a:ln>
        </p:spPr>
        <p:txBody>
          <a:bodyPr numCol="3" spcCol="0" lIns="0" rIns="0" tIns="0" bIns="0" anchor="t">
            <a:normAutofit fontScale="50000"/>
          </a:bodyPr>
          <a:p>
            <a:pPr marL="108000" indent="0" defTabSz="91440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bg-BG" sz="2400" spc="-1" strike="noStrike">
                <a:solidFill>
                  <a:srgbClr val="000000"/>
                </a:solidFill>
                <a:latin typeface="Calibri"/>
              </a:rPr>
              <a:t>Comparability</a:t>
            </a:r>
            <a:endParaRPr b="0" lang="bg-BG" sz="2400" spc="-1" strike="noStrike">
              <a:solidFill>
                <a:schemeClr val="dk1"/>
              </a:solidFill>
              <a:latin typeface="Calibri"/>
            </a:endParaRPr>
          </a:p>
          <a:p>
            <a:pPr marL="108000" indent="0" defTabSz="91440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bg-BG" sz="24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bg-BG" sz="2400" spc="-1" strike="noStrike">
              <a:solidFill>
                <a:schemeClr val="dk1"/>
              </a:solidFill>
              <a:latin typeface="Calibri"/>
            </a:endParaRPr>
          </a:p>
          <a:p>
            <a:pPr marL="108000" indent="0" defTabSz="91440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bg-BG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108000" indent="0" defTabSz="91440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bg-BG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108000" indent="0" defTabSz="91440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bg-BG" sz="2400" spc="-1" strike="noStrike">
                <a:solidFill>
                  <a:srgbClr val="000000"/>
                </a:solidFill>
                <a:latin typeface="Calibri"/>
              </a:rPr>
              <a:t>Stationarity</a:t>
            </a:r>
            <a:endParaRPr b="0" lang="bg-BG" sz="2400" spc="-1" strike="noStrike">
              <a:solidFill>
                <a:schemeClr val="dk1"/>
              </a:solidFill>
              <a:latin typeface="Calibri"/>
            </a:endParaRPr>
          </a:p>
          <a:p>
            <a:pPr marL="108000" indent="0" defTabSz="91440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bg-BG" sz="24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bg-BG" sz="2400" spc="-1" strike="noStrike">
              <a:solidFill>
                <a:schemeClr val="dk1"/>
              </a:solidFill>
              <a:latin typeface="Calibri"/>
            </a:endParaRPr>
          </a:p>
          <a:p>
            <a:pPr marL="108000" indent="0" defTabSz="91440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bg-BG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108000" indent="0" defTabSz="91440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bg-BG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108000" indent="0" defTabSz="91440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bg-BG" sz="2400" spc="-1" strike="noStrike">
                <a:solidFill>
                  <a:srgbClr val="000000"/>
                </a:solidFill>
                <a:latin typeface="Calibri"/>
              </a:rPr>
              <a:t>Components</a:t>
            </a:r>
            <a:endParaRPr b="0" lang="bg-BG" sz="2400" spc="-1" strike="noStrike">
              <a:solidFill>
                <a:schemeClr val="dk1"/>
              </a:solidFill>
              <a:latin typeface="Calibri"/>
            </a:endParaRPr>
          </a:p>
          <a:p>
            <a:pPr marL="108000" indent="0" defTabSz="91440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bg-BG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108000" indent="0" defTabSz="91440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bg-BG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108000" indent="0" defTabSz="91440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bg-BG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108000" indent="0" defTabSz="914400">
              <a:lnSpc>
                <a:spcPct val="90000"/>
              </a:lnSpc>
              <a:spcBef>
                <a:spcPts val="1417"/>
              </a:spcBef>
              <a:buNone/>
            </a:pP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108000" indent="0" defTabSz="91440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bg-BG" sz="2400" spc="-1" strike="noStrike">
                <a:solidFill>
                  <a:srgbClr val="000000"/>
                </a:solidFill>
                <a:latin typeface="Calibri"/>
              </a:rPr>
              <a:t>Autocorrelation</a:t>
            </a:r>
            <a:endParaRPr b="0" lang="bg-BG" sz="2400" spc="-1" strike="noStrike">
              <a:solidFill>
                <a:schemeClr val="dk1"/>
              </a:solidFill>
              <a:latin typeface="Calibri"/>
            </a:endParaRPr>
          </a:p>
          <a:p>
            <a:pPr marL="108000" indent="0" defTabSz="91440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bg-BG" sz="24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bg-BG" sz="2400" spc="-1" strike="noStrike">
              <a:solidFill>
                <a:schemeClr val="dk1"/>
              </a:solidFill>
              <a:latin typeface="Calibri"/>
            </a:endParaRPr>
          </a:p>
          <a:p>
            <a:pPr marL="108000" indent="0" defTabSz="91440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bg-BG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108000" indent="0" defTabSz="91440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bg-BG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108000" indent="0" defTabSz="91440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bg-BG" sz="2400" spc="-1" strike="noStrike">
                <a:solidFill>
                  <a:srgbClr val="000000"/>
                </a:solidFill>
                <a:latin typeface="Calibri"/>
              </a:rPr>
              <a:t>Models</a:t>
            </a:r>
            <a:endParaRPr b="0" lang="bg-BG" sz="2400" spc="-1" strike="noStrike">
              <a:solidFill>
                <a:schemeClr val="dk1"/>
              </a:solidFill>
              <a:latin typeface="Calibri"/>
            </a:endParaRPr>
          </a:p>
          <a:p>
            <a:pPr marL="108000" indent="0" defTabSz="91440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bg-BG" sz="24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bg-BG" sz="2400" spc="-1" strike="noStrike">
              <a:solidFill>
                <a:schemeClr val="dk1"/>
              </a:solidFill>
              <a:latin typeface="Calibri"/>
            </a:endParaRPr>
          </a:p>
          <a:p>
            <a:pPr marL="108000" indent="0" defTabSz="91440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bg-BG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108000" indent="0" defTabSz="91440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bg-BG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108000" indent="0" defTabSz="91440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bg-BG" sz="2400" spc="-1" strike="noStrike">
                <a:solidFill>
                  <a:srgbClr val="000000"/>
                </a:solidFill>
                <a:latin typeface="Calibri"/>
              </a:rPr>
              <a:t>Feature engineering</a:t>
            </a:r>
            <a:endParaRPr b="0" lang="bg-BG" sz="2400" spc="-1" strike="noStrike">
              <a:solidFill>
                <a:schemeClr val="dk1"/>
              </a:solidFill>
              <a:latin typeface="Calibri"/>
            </a:endParaRPr>
          </a:p>
          <a:p>
            <a:pPr marL="108000" indent="0" defTabSz="91440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bg-BG" sz="24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bg-BG" sz="2400" spc="-1" strike="noStrike">
              <a:solidFill>
                <a:schemeClr val="dk1"/>
              </a:solidFill>
              <a:latin typeface="Calibri"/>
            </a:endParaRPr>
          </a:p>
          <a:p>
            <a:pPr marL="108000" indent="0" defTabSz="91440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bg-BG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108000" indent="0" defTabSz="91440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bg-BG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108000" indent="0" defTabSz="91440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bg-BG" sz="2400" spc="-1" strike="noStrike">
                <a:solidFill>
                  <a:srgbClr val="000000"/>
                </a:solidFill>
                <a:latin typeface="Calibri"/>
              </a:rPr>
              <a:t>Optimization</a:t>
            </a:r>
            <a:endParaRPr b="0" lang="bg-BG" sz="2400" spc="-1" strike="noStrike">
              <a:solidFill>
                <a:schemeClr val="dk1"/>
              </a:solidFill>
              <a:latin typeface="Calibri"/>
            </a:endParaRPr>
          </a:p>
          <a:p>
            <a:pPr marL="108000" indent="0" defTabSz="91440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bg-BG" sz="24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bg-BG" sz="2400" spc="-1" strike="noStrike">
              <a:solidFill>
                <a:schemeClr val="dk1"/>
              </a:solidFill>
              <a:latin typeface="Calibri"/>
            </a:endParaRPr>
          </a:p>
          <a:p>
            <a:pPr marL="108000" indent="0" defTabSz="91440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bg-BG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108000" indent="0" defTabSz="91440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bg-BG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108000" indent="0" defTabSz="91440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bg-BG" sz="2400" spc="-1" strike="noStrike">
                <a:solidFill>
                  <a:srgbClr val="000000"/>
                </a:solidFill>
                <a:latin typeface="Calibri"/>
              </a:rPr>
              <a:t>Validation</a:t>
            </a:r>
            <a:endParaRPr b="0" lang="bg-BG" sz="2400" spc="-1" strike="noStrike">
              <a:solidFill>
                <a:schemeClr val="dk1"/>
              </a:solidFill>
              <a:latin typeface="Calibri"/>
            </a:endParaRPr>
          </a:p>
          <a:p>
            <a:pPr marL="108000" indent="0" defTabSz="91440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bg-BG" sz="24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bg-BG" sz="2400" spc="-1" strike="noStrike">
              <a:solidFill>
                <a:schemeClr val="dk1"/>
              </a:solidFill>
              <a:latin typeface="Calibri"/>
            </a:endParaRPr>
          </a:p>
          <a:p>
            <a:pPr marL="108000" indent="0" defTabSz="91440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bg-BG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108000" indent="0" defTabSz="91440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bg-BG" sz="2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108000" indent="0" defTabSz="91440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bg-BG" sz="2400" spc="-1" strike="noStrike">
                <a:solidFill>
                  <a:srgbClr val="000000"/>
                </a:solidFill>
                <a:latin typeface="Calibri"/>
              </a:rPr>
              <a:t>Forecast</a:t>
            </a:r>
            <a:endParaRPr b="0" lang="bg-BG" sz="2400" spc="-1" strike="noStrike">
              <a:solidFill>
                <a:schemeClr val="dk1"/>
              </a:solidFill>
              <a:latin typeface="Calibri"/>
            </a:endParaRPr>
          </a:p>
          <a:p>
            <a:pPr marL="108000" indent="0" defTabSz="91440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bg-BG" sz="24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bg-BG" sz="2400" spc="-1" strike="noStrike">
              <a:solidFill>
                <a:schemeClr val="dk1"/>
              </a:solidFill>
              <a:latin typeface="Calibri"/>
            </a:endParaRPr>
          </a:p>
          <a:p>
            <a:pPr marL="108000" indent="0" defTabSz="91440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bg-BG" sz="24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bg-BG" sz="2400" spc="-1" strike="noStrike">
              <a:solidFill>
                <a:schemeClr val="dk1"/>
              </a:solidFill>
              <a:latin typeface="Calibri"/>
            </a:endParaRPr>
          </a:p>
          <a:p>
            <a:pPr marL="108000" indent="0" defTabSz="91440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bg-BG" sz="24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bg-BG" sz="2400" spc="-1" strike="noStrike">
              <a:solidFill>
                <a:schemeClr val="dk1"/>
              </a:solidFill>
              <a:latin typeface="Calibri"/>
            </a:endParaRPr>
          </a:p>
          <a:p>
            <a:pPr marL="108000" indent="0" defTabSz="914400">
              <a:lnSpc>
                <a:spcPct val="90000"/>
              </a:lnSpc>
              <a:spcBef>
                <a:spcPts val="1417"/>
              </a:spcBef>
              <a:buNone/>
            </a:pPr>
            <a:r>
              <a:rPr b="0" lang="bg-BG" sz="24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bg-BG" sz="2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80" name="Picture 130" descr=""/>
          <p:cNvPicPr/>
          <p:nvPr/>
        </p:nvPicPr>
        <p:blipFill>
          <a:blip r:embed="rId2"/>
          <a:stretch/>
        </p:blipFill>
        <p:spPr>
          <a:xfrm>
            <a:off x="597240" y="900000"/>
            <a:ext cx="1816920" cy="1637280"/>
          </a:xfrm>
          <a:prstGeom prst="rect">
            <a:avLst/>
          </a:prstGeom>
          <a:ln w="0">
            <a:noFill/>
          </a:ln>
        </p:spPr>
      </p:pic>
      <p:pic>
        <p:nvPicPr>
          <p:cNvPr id="81" name="Picture 131" descr=""/>
          <p:cNvPicPr/>
          <p:nvPr/>
        </p:nvPicPr>
        <p:blipFill>
          <a:blip r:embed="rId3"/>
          <a:stretch/>
        </p:blipFill>
        <p:spPr>
          <a:xfrm>
            <a:off x="597240" y="2920680"/>
            <a:ext cx="2208960" cy="1325160"/>
          </a:xfrm>
          <a:prstGeom prst="rect">
            <a:avLst/>
          </a:prstGeom>
          <a:ln w="0">
            <a:noFill/>
          </a:ln>
        </p:spPr>
      </p:pic>
      <p:pic>
        <p:nvPicPr>
          <p:cNvPr id="82" name="Picture 132" descr=""/>
          <p:cNvPicPr/>
          <p:nvPr/>
        </p:nvPicPr>
        <p:blipFill>
          <a:blip r:embed="rId4"/>
          <a:stretch/>
        </p:blipFill>
        <p:spPr>
          <a:xfrm>
            <a:off x="597240" y="5003640"/>
            <a:ext cx="2102400" cy="1393920"/>
          </a:xfrm>
          <a:prstGeom prst="rect">
            <a:avLst/>
          </a:prstGeom>
          <a:ln w="0">
            <a:noFill/>
          </a:ln>
        </p:spPr>
      </p:pic>
      <p:pic>
        <p:nvPicPr>
          <p:cNvPr id="83" name="Picture 133" descr=""/>
          <p:cNvPicPr/>
          <p:nvPr/>
        </p:nvPicPr>
        <p:blipFill>
          <a:blip r:embed="rId5"/>
          <a:stretch/>
        </p:blipFill>
        <p:spPr>
          <a:xfrm>
            <a:off x="4680000" y="1333440"/>
            <a:ext cx="2339640" cy="1671120"/>
          </a:xfrm>
          <a:prstGeom prst="rect">
            <a:avLst/>
          </a:prstGeom>
          <a:ln w="0">
            <a:noFill/>
          </a:ln>
        </p:spPr>
      </p:pic>
      <p:pic>
        <p:nvPicPr>
          <p:cNvPr id="84" name="Picture 134" descr=""/>
          <p:cNvPicPr/>
          <p:nvPr/>
        </p:nvPicPr>
        <p:blipFill>
          <a:blip r:embed="rId6"/>
          <a:stretch/>
        </p:blipFill>
        <p:spPr>
          <a:xfrm>
            <a:off x="4680000" y="5336280"/>
            <a:ext cx="1692720" cy="1521360"/>
          </a:xfrm>
          <a:prstGeom prst="rect">
            <a:avLst/>
          </a:prstGeom>
          <a:ln w="0">
            <a:noFill/>
          </a:ln>
        </p:spPr>
      </p:pic>
      <p:pic>
        <p:nvPicPr>
          <p:cNvPr id="85" name="Picture 135" descr=""/>
          <p:cNvPicPr/>
          <p:nvPr/>
        </p:nvPicPr>
        <p:blipFill>
          <a:blip r:embed="rId7"/>
          <a:stretch/>
        </p:blipFill>
        <p:spPr>
          <a:xfrm>
            <a:off x="8380080" y="892800"/>
            <a:ext cx="2159640" cy="1619640"/>
          </a:xfrm>
          <a:prstGeom prst="rect">
            <a:avLst/>
          </a:prstGeom>
          <a:ln w="0">
            <a:noFill/>
          </a:ln>
        </p:spPr>
      </p:pic>
      <p:pic>
        <p:nvPicPr>
          <p:cNvPr id="86" name="Picture 136" descr=""/>
          <p:cNvPicPr/>
          <p:nvPr/>
        </p:nvPicPr>
        <p:blipFill>
          <a:blip r:embed="rId8"/>
          <a:stretch/>
        </p:blipFill>
        <p:spPr>
          <a:xfrm>
            <a:off x="8380080" y="2920680"/>
            <a:ext cx="2056680" cy="1416600"/>
          </a:xfrm>
          <a:prstGeom prst="rect">
            <a:avLst/>
          </a:prstGeom>
          <a:ln w="0">
            <a:noFill/>
          </a:ln>
        </p:spPr>
      </p:pic>
      <p:pic>
        <p:nvPicPr>
          <p:cNvPr id="87" name="Picture 137" descr=""/>
          <p:cNvPicPr/>
          <p:nvPr/>
        </p:nvPicPr>
        <p:blipFill>
          <a:blip r:embed="rId9"/>
          <a:stretch/>
        </p:blipFill>
        <p:spPr>
          <a:xfrm>
            <a:off x="8380080" y="5087520"/>
            <a:ext cx="2239560" cy="1310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dk1"/>
                </a:solidFill>
                <a:latin typeface="Calibri Light"/>
              </a:rPr>
              <a:t>Comparability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Basic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By territory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By time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By methodology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</a:rPr>
              <a:t>Additional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By prices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By coverage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By measurement units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dk1"/>
                </a:solidFill>
                <a:latin typeface="Calibri Light"/>
              </a:rPr>
              <a:t>Stationarity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550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Constant distribution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i.e.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Constant mean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Constant variance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etc…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5" name="Picture 4" descr=""/>
          <p:cNvPicPr/>
          <p:nvPr/>
        </p:nvPicPr>
        <p:blipFill>
          <a:blip r:embed="rId1"/>
          <a:stretch/>
        </p:blipFill>
        <p:spPr>
          <a:xfrm>
            <a:off x="4391280" y="1604880"/>
            <a:ext cx="7619760" cy="4571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5" dur="indefinite" restart="never" nodeType="tmRoot">
          <p:childTnLst>
            <p:seq>
              <p:cTn id="36" dur="indefinite" nodeType="mainSeq">
                <p:childTnLst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dk1"/>
                </a:solidFill>
                <a:latin typeface="Calibri Light"/>
              </a:rPr>
              <a:t>Components of dynamics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Trend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Cycle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Seasonality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Noise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1" dur="indefinite" restart="never" nodeType="tmRoot">
          <p:childTnLst>
            <p:seq>
              <p:cTn id="62" dur="indefinite" nodeType="mainSeq">
                <p:childTnLst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dk1"/>
                </a:solidFill>
                <a:latin typeface="Calibri Light"/>
              </a:rPr>
              <a:t>Trend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9" name="Picture 4" descr=""/>
          <p:cNvPicPr/>
          <p:nvPr/>
        </p:nvPicPr>
        <p:blipFill>
          <a:blip r:embed="rId1"/>
          <a:stretch/>
        </p:blipFill>
        <p:spPr>
          <a:xfrm>
            <a:off x="2372400" y="1470240"/>
            <a:ext cx="7446600" cy="4864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dk1"/>
                </a:solidFill>
                <a:latin typeface="Calibri Light"/>
              </a:rPr>
              <a:t>Cycle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1" name="Picture 4" descr=""/>
          <p:cNvPicPr/>
          <p:nvPr/>
        </p:nvPicPr>
        <p:blipFill>
          <a:blip r:embed="rId1"/>
          <a:stretch/>
        </p:blipFill>
        <p:spPr>
          <a:xfrm>
            <a:off x="2372400" y="1479960"/>
            <a:ext cx="7446600" cy="4864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dk1"/>
                </a:solidFill>
                <a:latin typeface="Calibri Light"/>
              </a:rPr>
              <a:t>Seasonality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3" name="Picture 4" descr=""/>
          <p:cNvPicPr/>
          <p:nvPr/>
        </p:nvPicPr>
        <p:blipFill>
          <a:blip r:embed="rId1"/>
          <a:stretch/>
        </p:blipFill>
        <p:spPr>
          <a:xfrm>
            <a:off x="2372400" y="1479960"/>
            <a:ext cx="7446600" cy="4864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dk1"/>
                </a:solidFill>
                <a:latin typeface="Calibri Light"/>
              </a:rPr>
              <a:t>Autocorrelation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blipFill rotWithShape="0">
            <a:blip r:embed="rId1"/>
            <a:stretch>
              <a:fillRect l="-1044" t="-2242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bg-BG" sz="2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2"/>
          <a:stretch/>
        </p:blipFill>
        <p:spPr>
          <a:xfrm>
            <a:off x="7086600" y="15480"/>
            <a:ext cx="5029200" cy="3618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9" dur="indefinite" restart="never" nodeType="tmRoot">
          <p:childTnLst>
            <p:seq>
              <p:cTn id="80" dur="indefinite" nodeType="mainSeq">
                <p:childTnLst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dk1"/>
                </a:solidFill>
                <a:latin typeface="Calibri Light"/>
              </a:rPr>
              <a:t>Main model classes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7" dur="indefinite" restart="never" nodeType="tmRoot">
          <p:childTnLst>
            <p:seq>
              <p:cTn id="98" dur="indefinite" nodeType="mainSeq">
                <p:childTnLst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Feature engineering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0" name="Picture 164" descr=""/>
          <p:cNvPicPr/>
          <p:nvPr/>
        </p:nvPicPr>
        <p:blipFill>
          <a:blip r:embed="rId1"/>
          <a:srcRect l="0" t="25188" r="0" b="0"/>
          <a:stretch/>
        </p:blipFill>
        <p:spPr>
          <a:xfrm>
            <a:off x="1053000" y="1690200"/>
            <a:ext cx="10085400" cy="3889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1" dur="indefinite" restart="never" nodeType="tmRoot">
          <p:childTnLst>
            <p:seq>
              <p:cTn id="132" dur="indefinite" nodeType="mainSeq">
                <p:childTnLst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166" descr=""/>
          <p:cNvPicPr/>
          <p:nvPr/>
        </p:nvPicPr>
        <p:blipFill>
          <a:blip r:embed="rId1"/>
          <a:stretch/>
        </p:blipFill>
        <p:spPr>
          <a:xfrm>
            <a:off x="502560" y="907200"/>
            <a:ext cx="11186280" cy="5043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167" descr=""/>
          <p:cNvPicPr/>
          <p:nvPr/>
        </p:nvPicPr>
        <p:blipFill>
          <a:blip r:embed="rId1"/>
          <a:stretch/>
        </p:blipFill>
        <p:spPr>
          <a:xfrm>
            <a:off x="180000" y="0"/>
            <a:ext cx="9539640" cy="3096720"/>
          </a:xfrm>
          <a:prstGeom prst="rect">
            <a:avLst/>
          </a:prstGeom>
          <a:ln w="0">
            <a:noFill/>
          </a:ln>
        </p:spPr>
      </p:pic>
      <p:pic>
        <p:nvPicPr>
          <p:cNvPr id="113" name="Picture 168" descr=""/>
          <p:cNvPicPr/>
          <p:nvPr/>
        </p:nvPicPr>
        <p:blipFill>
          <a:blip r:embed="rId2"/>
          <a:stretch/>
        </p:blipFill>
        <p:spPr>
          <a:xfrm>
            <a:off x="180000" y="3010320"/>
            <a:ext cx="8152560" cy="3649320"/>
          </a:xfrm>
          <a:prstGeom prst="rect">
            <a:avLst/>
          </a:prstGeom>
          <a:ln w="0">
            <a:noFill/>
          </a:ln>
        </p:spPr>
      </p:pic>
      <p:pic>
        <p:nvPicPr>
          <p:cNvPr id="114" name="Picture 169" descr=""/>
          <p:cNvPicPr/>
          <p:nvPr/>
        </p:nvPicPr>
        <p:blipFill>
          <a:blip r:embed="rId3"/>
          <a:stretch/>
        </p:blipFill>
        <p:spPr>
          <a:xfrm>
            <a:off x="7666200" y="1349280"/>
            <a:ext cx="4525560" cy="5310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Picture 171" descr=""/>
          <p:cNvPicPr/>
          <p:nvPr/>
        </p:nvPicPr>
        <p:blipFill>
          <a:blip r:embed="rId1"/>
          <a:stretch/>
        </p:blipFill>
        <p:spPr>
          <a:xfrm>
            <a:off x="684720" y="641520"/>
            <a:ext cx="10821960" cy="557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Picture 173" descr=""/>
          <p:cNvPicPr/>
          <p:nvPr/>
        </p:nvPicPr>
        <p:blipFill>
          <a:blip r:embed="rId1"/>
          <a:stretch/>
        </p:blipFill>
        <p:spPr>
          <a:xfrm>
            <a:off x="2520000" y="166680"/>
            <a:ext cx="6400080" cy="1523160"/>
          </a:xfrm>
          <a:prstGeom prst="rect">
            <a:avLst/>
          </a:prstGeom>
          <a:ln w="0">
            <a:noFill/>
          </a:ln>
        </p:spPr>
      </p:pic>
      <p:pic>
        <p:nvPicPr>
          <p:cNvPr id="117" name="Picture 174" descr=""/>
          <p:cNvPicPr/>
          <p:nvPr/>
        </p:nvPicPr>
        <p:blipFill>
          <a:blip r:embed="rId2"/>
          <a:stretch/>
        </p:blipFill>
        <p:spPr>
          <a:xfrm>
            <a:off x="2082960" y="1690200"/>
            <a:ext cx="7274520" cy="499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176" descr=""/>
          <p:cNvPicPr/>
          <p:nvPr/>
        </p:nvPicPr>
        <p:blipFill>
          <a:blip r:embed="rId1"/>
          <a:stretch/>
        </p:blipFill>
        <p:spPr>
          <a:xfrm>
            <a:off x="2175480" y="411840"/>
            <a:ext cx="7840440" cy="6034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icture 178" descr=""/>
          <p:cNvPicPr/>
          <p:nvPr/>
        </p:nvPicPr>
        <p:blipFill>
          <a:blip r:embed="rId1"/>
          <a:stretch/>
        </p:blipFill>
        <p:spPr>
          <a:xfrm>
            <a:off x="3121200" y="299160"/>
            <a:ext cx="5949360" cy="6259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Picture 180" descr=""/>
          <p:cNvPicPr/>
          <p:nvPr/>
        </p:nvPicPr>
        <p:blipFill>
          <a:blip r:embed="rId1"/>
          <a:stretch/>
        </p:blipFill>
        <p:spPr>
          <a:xfrm>
            <a:off x="1078560" y="671760"/>
            <a:ext cx="6438240" cy="3702600"/>
          </a:xfrm>
          <a:prstGeom prst="rect">
            <a:avLst/>
          </a:prstGeom>
          <a:ln w="0">
            <a:noFill/>
          </a:ln>
        </p:spPr>
      </p:pic>
      <p:pic>
        <p:nvPicPr>
          <p:cNvPr id="121" name="Picture 181" descr=""/>
          <p:cNvPicPr/>
          <p:nvPr/>
        </p:nvPicPr>
        <p:blipFill>
          <a:blip r:embed="rId2"/>
          <a:stretch/>
        </p:blipFill>
        <p:spPr>
          <a:xfrm>
            <a:off x="5313960" y="3340440"/>
            <a:ext cx="5880960" cy="318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Picture 183" descr=""/>
          <p:cNvPicPr/>
          <p:nvPr/>
        </p:nvPicPr>
        <p:blipFill>
          <a:blip r:embed="rId1"/>
          <a:stretch/>
        </p:blipFill>
        <p:spPr>
          <a:xfrm>
            <a:off x="1085040" y="179640"/>
            <a:ext cx="7101000" cy="5462640"/>
          </a:xfrm>
          <a:prstGeom prst="rect">
            <a:avLst/>
          </a:prstGeom>
          <a:ln w="0">
            <a:noFill/>
          </a:ln>
        </p:spPr>
      </p:pic>
      <p:pic>
        <p:nvPicPr>
          <p:cNvPr id="123" name="Picture 184" descr=""/>
          <p:cNvPicPr/>
          <p:nvPr/>
        </p:nvPicPr>
        <p:blipFill>
          <a:blip r:embed="rId2"/>
          <a:stretch/>
        </p:blipFill>
        <p:spPr>
          <a:xfrm>
            <a:off x="7232760" y="466920"/>
            <a:ext cx="4787640" cy="3563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186" descr=""/>
          <p:cNvPicPr/>
          <p:nvPr/>
        </p:nvPicPr>
        <p:blipFill>
          <a:blip r:embed="rId1"/>
          <a:stretch/>
        </p:blipFill>
        <p:spPr>
          <a:xfrm>
            <a:off x="610200" y="484200"/>
            <a:ext cx="10971000" cy="5889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Picture 188" descr=""/>
          <p:cNvPicPr/>
          <p:nvPr/>
        </p:nvPicPr>
        <p:blipFill>
          <a:blip r:embed="rId1"/>
          <a:stretch/>
        </p:blipFill>
        <p:spPr>
          <a:xfrm>
            <a:off x="327600" y="532440"/>
            <a:ext cx="7345080" cy="3420720"/>
          </a:xfrm>
          <a:prstGeom prst="rect">
            <a:avLst/>
          </a:prstGeom>
          <a:ln w="0">
            <a:noFill/>
          </a:ln>
        </p:spPr>
      </p:pic>
      <p:pic>
        <p:nvPicPr>
          <p:cNvPr id="126" name="Picture 189" descr=""/>
          <p:cNvPicPr/>
          <p:nvPr/>
        </p:nvPicPr>
        <p:blipFill>
          <a:blip r:embed="rId2"/>
          <a:stretch/>
        </p:blipFill>
        <p:spPr>
          <a:xfrm>
            <a:off x="7180200" y="3188880"/>
            <a:ext cx="4859640" cy="3314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Picture 191" descr=""/>
          <p:cNvPicPr/>
          <p:nvPr/>
        </p:nvPicPr>
        <p:blipFill>
          <a:blip r:embed="rId1"/>
          <a:stretch/>
        </p:blipFill>
        <p:spPr>
          <a:xfrm>
            <a:off x="2309040" y="456480"/>
            <a:ext cx="7573680" cy="1500480"/>
          </a:xfrm>
          <a:prstGeom prst="rect">
            <a:avLst/>
          </a:prstGeom>
          <a:ln w="0">
            <a:noFill/>
          </a:ln>
        </p:spPr>
      </p:pic>
      <p:pic>
        <p:nvPicPr>
          <p:cNvPr id="128" name="Picture 192" descr=""/>
          <p:cNvPicPr/>
          <p:nvPr/>
        </p:nvPicPr>
        <p:blipFill>
          <a:blip r:embed="rId2"/>
          <a:stretch/>
        </p:blipFill>
        <p:spPr>
          <a:xfrm>
            <a:off x="2225880" y="1819800"/>
            <a:ext cx="7739640" cy="4898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dk1"/>
                </a:solidFill>
                <a:latin typeface="Calibri Light"/>
              </a:rPr>
              <a:t>Approaches for estimation of coefficients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0336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Analytical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Ordinary least squares (OLS)</a:t>
            </a:r>
            <a:endParaRPr b="0" lang="bg-BG" sz="24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Maximum likelihood (ML)</a:t>
            </a:r>
            <a:endParaRPr b="0" lang="bg-BG" sz="24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Bayesian</a:t>
            </a:r>
            <a:endParaRPr b="0" lang="bg-BG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Iterative…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but…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All of these are in fact optimization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7" dur="indefinite" restart="never" nodeType="tmRoot">
          <p:childTnLst>
            <p:seq>
              <p:cTn id="138" dur="indefinite" nodeType="mainSeq">
                <p:childTnLst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824760" y="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Optimization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32" name="Picture 196" descr=""/>
          <p:cNvPicPr/>
          <p:nvPr/>
        </p:nvPicPr>
        <p:blipFill>
          <a:blip r:embed="rId1"/>
          <a:stretch/>
        </p:blipFill>
        <p:spPr>
          <a:xfrm>
            <a:off x="1298880" y="870480"/>
            <a:ext cx="9567000" cy="5859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dk1"/>
                </a:solidFill>
                <a:latin typeface="Calibri Light"/>
              </a:rPr>
              <a:t>Overfitting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bg-BG" sz="2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1" dur="indefinite" restart="never" nodeType="tmRoot">
          <p:childTnLst>
            <p:seq>
              <p:cTn id="162" dur="indefinite" nodeType="mainSeq">
                <p:childTnLst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Validation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9241560" cy="14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Split sample validation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Training set</a:t>
            </a:r>
            <a:endParaRPr b="0" lang="bg-BG" sz="24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Test set</a:t>
            </a:r>
            <a:endParaRPr b="0" lang="bg-BG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</a:pPr>
            <a:endParaRPr b="0" lang="bg-BG" sz="24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Validation subset/method</a:t>
            </a:r>
            <a:endParaRPr b="0" lang="bg-BG" sz="2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37" name="Picture 199" descr=""/>
          <p:cNvPicPr/>
          <p:nvPr/>
        </p:nvPicPr>
        <p:blipFill>
          <a:blip r:embed="rId1"/>
          <a:srcRect l="0" t="0" r="0" b="16550"/>
          <a:stretch/>
        </p:blipFill>
        <p:spPr>
          <a:xfrm>
            <a:off x="5639040" y="329040"/>
            <a:ext cx="6028920" cy="2722320"/>
          </a:xfrm>
          <a:prstGeom prst="rect">
            <a:avLst/>
          </a:prstGeom>
          <a:ln w="0">
            <a:noFill/>
          </a:ln>
        </p:spPr>
      </p:pic>
      <p:pic>
        <p:nvPicPr>
          <p:cNvPr id="138" name="Picture 200" descr=""/>
          <p:cNvPicPr/>
          <p:nvPr/>
        </p:nvPicPr>
        <p:blipFill>
          <a:blip r:embed="rId2"/>
          <a:stretch/>
        </p:blipFill>
        <p:spPr>
          <a:xfrm>
            <a:off x="5639040" y="3240000"/>
            <a:ext cx="6293520" cy="3397320"/>
          </a:xfrm>
          <a:prstGeom prst="rect">
            <a:avLst/>
          </a:prstGeom>
          <a:ln w="0">
            <a:noFill/>
          </a:ln>
        </p:spPr>
      </p:pic>
      <p:pic>
        <p:nvPicPr>
          <p:cNvPr id="139" name="Picture 201" descr=""/>
          <p:cNvPicPr/>
          <p:nvPr/>
        </p:nvPicPr>
        <p:blipFill>
          <a:blip r:embed="rId3"/>
          <a:stretch/>
        </p:blipFill>
        <p:spPr>
          <a:xfrm>
            <a:off x="889560" y="3993840"/>
            <a:ext cx="4060800" cy="2498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7" dur="indefinite" restart="never" nodeType="tmRoot">
          <p:childTnLst>
            <p:seq>
              <p:cTn id="168" dur="indefinite" nodeType="mainSeq">
                <p:childTnLst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Validation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Validation with moving window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42" name="Picture 204" descr=""/>
          <p:cNvPicPr/>
          <p:nvPr/>
        </p:nvPicPr>
        <p:blipFill>
          <a:blip r:embed="rId1"/>
          <a:stretch/>
        </p:blipFill>
        <p:spPr>
          <a:xfrm>
            <a:off x="811440" y="2600640"/>
            <a:ext cx="10541520" cy="3575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3" dur="indefinite" restart="never" nodeType="tmRoot">
          <p:childTnLst>
            <p:seq>
              <p:cTn id="194" dur="indefinite" nodeType="mainSeq">
                <p:childTnLst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dk1"/>
                </a:solidFill>
                <a:latin typeface="Calibri Light"/>
              </a:rPr>
              <a:t>Information criteria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257440" cy="435096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45" name="Picture 3" descr=""/>
          <p:cNvPicPr/>
          <p:nvPr/>
        </p:nvPicPr>
        <p:blipFill>
          <a:blip r:embed="rId2"/>
          <a:stretch/>
        </p:blipFill>
        <p:spPr>
          <a:xfrm>
            <a:off x="6859080" y="3429000"/>
            <a:ext cx="4571640" cy="3428640"/>
          </a:xfrm>
          <a:prstGeom prst="rect">
            <a:avLst/>
          </a:prstGeom>
          <a:ln w="0">
            <a:noFill/>
          </a:ln>
        </p:spPr>
      </p:pic>
      <p:pic>
        <p:nvPicPr>
          <p:cNvPr id="146" name="Picture 13" descr=""/>
          <p:cNvPicPr/>
          <p:nvPr/>
        </p:nvPicPr>
        <p:blipFill>
          <a:blip r:embed="rId3"/>
          <a:stretch/>
        </p:blipFill>
        <p:spPr>
          <a:xfrm>
            <a:off x="6859080" y="388800"/>
            <a:ext cx="4654080" cy="3040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9" dur="indefinite" restart="never" nodeType="tmRoot">
          <p:childTnLst>
            <p:seq>
              <p:cTn id="200" dur="indefinite" nodeType="mainSeq">
                <p:childTnLst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dk1"/>
                </a:solidFill>
                <a:latin typeface="Calibri Light"/>
              </a:rPr>
              <a:t>Forecasts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Extrapolation/interpolation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Analytical forecasts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Target forecasts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49" name="Picture 3" descr=""/>
          <p:cNvPicPr/>
          <p:nvPr/>
        </p:nvPicPr>
        <p:blipFill>
          <a:blip r:embed="rId1"/>
          <a:stretch/>
        </p:blipFill>
        <p:spPr>
          <a:xfrm>
            <a:off x="5311440" y="1690560"/>
            <a:ext cx="6041880" cy="4296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7" dur="indefinite" restart="never" nodeType="tmRoot">
          <p:childTnLst>
            <p:seq>
              <p:cTn id="238" dur="indefinite" nodeType="mainSeq">
                <p:childTnLst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dk1"/>
                </a:solidFill>
                <a:latin typeface="Calibri Light"/>
              </a:rPr>
              <a:t>Forecast horizon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Short term, medium term, long term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Depending of time series length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5" dur="indefinite" restart="never" nodeType="tmRoot">
          <p:childTnLst>
            <p:seq>
              <p:cTn id="256" dur="indefinite" nodeType="mainSeq">
                <p:childTnLst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dk1"/>
                </a:solidFill>
                <a:latin typeface="Calibri Light"/>
              </a:rPr>
              <a:t>Confidence interval of forecast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53" name="Picture 4" descr=""/>
          <p:cNvPicPr/>
          <p:nvPr/>
        </p:nvPicPr>
        <p:blipFill>
          <a:blip r:embed="rId1"/>
          <a:stretch/>
        </p:blipFill>
        <p:spPr>
          <a:xfrm>
            <a:off x="596160" y="1991160"/>
            <a:ext cx="5584680" cy="3648240"/>
          </a:xfrm>
          <a:prstGeom prst="rect">
            <a:avLst/>
          </a:prstGeom>
          <a:ln w="0">
            <a:noFill/>
          </a:ln>
        </p:spPr>
      </p:pic>
      <p:pic>
        <p:nvPicPr>
          <p:cNvPr id="154" name="Picture 3" descr=""/>
          <p:cNvPicPr/>
          <p:nvPr/>
        </p:nvPicPr>
        <p:blipFill>
          <a:blip r:embed="rId2"/>
          <a:stretch/>
        </p:blipFill>
        <p:spPr>
          <a:xfrm>
            <a:off x="6166440" y="1690560"/>
            <a:ext cx="5797080" cy="3779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65" dur="indefinite" restart="never" nodeType="tmRoot">
          <p:childTnLst>
            <p:seq>
              <p:cTn id="266" dur="indefinite" nodeType="mainSeq">
                <p:childTnLst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dk1"/>
                </a:solidFill>
                <a:latin typeface="Calibri Light"/>
              </a:rPr>
              <a:t>Evaluation of forecast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blipFill rotWithShape="0">
            <a:blip r:embed="rId1"/>
            <a:stretch>
              <a:fillRect l="-814" t="-2664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bg-BG" sz="2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75" dur="indefinite" restart="never" nodeType="tmRoot">
          <p:childTnLst>
            <p:seq>
              <p:cTn id="276" dur="indefinite" nodeType="mainSeq">
                <p:childTnLst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305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1" lang="en-US" sz="6000" spc="-1" strike="noStrike">
                <a:solidFill>
                  <a:schemeClr val="dk1"/>
                </a:solidFill>
                <a:latin typeface="Calibri Light"/>
              </a:rPr>
              <a:t>Bayesian periodogram analysis</a:t>
            </a:r>
            <a:endParaRPr b="0" lang="bg-BG" sz="6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dk1"/>
                </a:solidFill>
                <a:latin typeface="Calibri Light"/>
              </a:rPr>
              <a:t>Bayesian estimation of model coefficients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206640" y="1825560"/>
            <a:ext cx="11660760" cy="451584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bg-BG" sz="2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01" dur="indefinite" restart="never" nodeType="tmRoot">
          <p:childTnLst>
            <p:seq>
              <p:cTn id="302" dur="indefinite" nodeType="mainSeq">
                <p:childTnLst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dk1"/>
                </a:solidFill>
                <a:latin typeface="Calibri Light"/>
              </a:rPr>
              <a:t>Bayesian estimation of model coefficients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344160" y="1825560"/>
            <a:ext cx="11503440" cy="447660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bg-BG" sz="2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19" dur="indefinite" restart="never" nodeType="tmRoot">
          <p:childTnLst>
            <p:seq>
              <p:cTn id="320" dur="indefinite" nodeType="mainSeq">
                <p:childTnLst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dk1"/>
                </a:solidFill>
                <a:latin typeface="Calibri Light"/>
              </a:rPr>
              <a:t>Bayesian estimation of model coefficients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344160" y="1825560"/>
            <a:ext cx="11503440" cy="447660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bg-BG" sz="2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33" dur="indefinite" restart="never" nodeType="tmRoot">
          <p:childTnLst>
            <p:seq>
              <p:cTn id="334" dur="indefinite" nodeType="mainSeq">
                <p:childTnLst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dk1"/>
                </a:solidFill>
                <a:latin typeface="Calibri Light"/>
              </a:rPr>
              <a:t>Bayesian estimation of model coefficients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344160" y="1825560"/>
            <a:ext cx="11503440" cy="447660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bg-BG" sz="2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47" dur="indefinite" restart="never" nodeType="tmRoot">
          <p:childTnLst>
            <p:seq>
              <p:cTn id="348" dur="indefinite" nodeType="mainSeq">
                <p:childTnLst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dk1"/>
                </a:solidFill>
                <a:latin typeface="Calibri Light"/>
              </a:rPr>
              <a:t>Series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838080" y="1614240"/>
            <a:ext cx="11001960" cy="4730400"/>
          </a:xfrm>
          <a:prstGeom prst="rect">
            <a:avLst/>
          </a:prstGeom>
          <a:blipFill rotWithShape="0">
            <a:blip r:embed="rId1"/>
            <a:stretch>
              <a:fillRect l="-723" t="-2968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bg-BG" sz="2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53" dur="indefinite" restart="never" nodeType="tmRoot">
          <p:childTnLst>
            <p:seq>
              <p:cTn id="354" dur="indefinite" nodeType="mainSeq">
                <p:childTnLst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indefinite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>
                      <p:stCondLst>
                        <p:cond delay="indefinite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dk1"/>
                </a:solidFill>
                <a:latin typeface="Calibri Light"/>
              </a:rPr>
              <a:t>Periodogram analysis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blipFill rotWithShape="0">
            <a:blip r:embed="rId1"/>
            <a:stretch>
              <a:fillRect l="-931" t="-4" b="-4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bg-BG" sz="2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70" name="Picture 3" descr=""/>
          <p:cNvPicPr/>
          <p:nvPr/>
        </p:nvPicPr>
        <p:blipFill>
          <a:blip r:embed="rId2"/>
          <a:stretch/>
        </p:blipFill>
        <p:spPr>
          <a:xfrm>
            <a:off x="6716520" y="1253880"/>
            <a:ext cx="5333400" cy="3999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79" dur="indefinite" restart="never" nodeType="tmRoot">
          <p:childTnLst>
            <p:seq>
              <p:cTn id="380" dur="indefinite" nodeType="mainSeq">
                <p:childTnLst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5" fill="hold">
                      <p:stCondLst>
                        <p:cond delay="indefinite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>
                      <p:stCondLst>
                        <p:cond delay="indefinite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indefinite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>
                      <p:stCondLst>
                        <p:cond delay="indefinite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dk1"/>
                </a:solidFill>
                <a:latin typeface="Calibri Light"/>
              </a:rPr>
              <a:t>Bayesian periodogram analysis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bg-BG" sz="2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01" dur="indefinite" restart="never" nodeType="tmRoot">
          <p:childTnLst>
            <p:seq>
              <p:cTn id="402" dur="indefinite" nodeType="mainSeq">
                <p:childTnLst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>
                      <p:stCondLst>
                        <p:cond delay="indefinite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>
                      <p:stCondLst>
                        <p:cond delay="indefinite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dk1"/>
                </a:solidFill>
                <a:latin typeface="Calibri Light"/>
              </a:rPr>
              <a:t>Approximation of linear function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74" name="Picture 3" descr=""/>
          <p:cNvPicPr/>
          <p:nvPr/>
        </p:nvPicPr>
        <p:blipFill>
          <a:blip r:embed="rId1"/>
          <a:stretch/>
        </p:blipFill>
        <p:spPr>
          <a:xfrm>
            <a:off x="2417040" y="1828080"/>
            <a:ext cx="7357680" cy="4486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dk1"/>
                </a:solidFill>
                <a:latin typeface="Calibri Light"/>
              </a:rPr>
              <a:t>Approximation of quadratic function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76" name="Picture 4" descr=""/>
          <p:cNvPicPr/>
          <p:nvPr/>
        </p:nvPicPr>
        <p:blipFill>
          <a:blip r:embed="rId1"/>
          <a:stretch/>
        </p:blipFill>
        <p:spPr>
          <a:xfrm>
            <a:off x="2417040" y="1798560"/>
            <a:ext cx="7357680" cy="4486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dk1"/>
                </a:solidFill>
                <a:latin typeface="Calibri Light"/>
              </a:rPr>
              <a:t>Approximation of cubic function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78" name="Picture 3" descr=""/>
          <p:cNvPicPr/>
          <p:nvPr/>
        </p:nvPicPr>
        <p:blipFill>
          <a:blip r:embed="rId1"/>
          <a:stretch/>
        </p:blipFill>
        <p:spPr>
          <a:xfrm>
            <a:off x="2417040" y="1837800"/>
            <a:ext cx="7357680" cy="4486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dk1"/>
                </a:solidFill>
                <a:latin typeface="Calibri Light"/>
              </a:rPr>
              <a:t>Components of dynamics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1058120" cy="4350960"/>
          </a:xfrm>
          <a:prstGeom prst="rect">
            <a:avLst/>
          </a:prstGeom>
          <a:blipFill rotWithShape="0">
            <a:blip r:embed="rId1"/>
            <a:stretch>
              <a:fillRect l="-937" t="-1969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19" dur="indefinite" restart="never" nodeType="tmRoot">
          <p:childTnLst>
            <p:seq>
              <p:cTn id="420" dur="indefinite" nodeType="mainSeq">
                <p:childTnLst>
                  <p:par>
                    <p:cTn id="421" fill="hold">
                      <p:stCondLst>
                        <p:cond delay="indefinite"/>
                      </p:stCondLst>
                      <p:childTnLst>
                        <p:par>
                          <p:cTn id="422" fill="hold">
                            <p:stCondLst>
                              <p:cond delay="0"/>
                            </p:stCondLst>
                            <p:childTnLst>
                              <p:par>
                                <p:cTn id="4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5" fill="hold">
                      <p:stCondLst>
                        <p:cond delay="indefinite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9" fill="hold">
                      <p:stCondLst>
                        <p:cond delay="indefinite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3" fill="hold">
                      <p:stCondLst>
                        <p:cond delay="indefinite"/>
                      </p:stCondLst>
                      <p:childTnLst>
                        <p:par>
                          <p:cTn id="434" fill="hold">
                            <p:stCondLst>
                              <p:cond delay="0"/>
                            </p:stCondLst>
                            <p:childTnLst>
                              <p:par>
                                <p:cTn id="4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dk1"/>
                </a:solidFill>
                <a:latin typeface="Calibri Light"/>
              </a:rPr>
              <a:t>Bayesian periodogram analysis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bg-BG" sz="2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37" dur="indefinite" restart="never" nodeType="tmRoot">
          <p:childTnLst>
            <p:seq>
              <p:cTn id="438" dur="indefinite" nodeType="mainSeq">
                <p:childTnLst>
                  <p:par>
                    <p:cTn id="439" fill="hold">
                      <p:stCondLst>
                        <p:cond delay="indefinite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3" fill="hold">
                      <p:stCondLst>
                        <p:cond delay="indefinite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dk1"/>
                </a:solidFill>
                <a:latin typeface="Calibri Light"/>
              </a:rPr>
              <a:t>Decays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838080" y="1623600"/>
            <a:ext cx="11001960" cy="4692960"/>
          </a:xfrm>
          <a:prstGeom prst="rect">
            <a:avLst/>
          </a:prstGeom>
          <a:blipFill rotWithShape="0">
            <a:blip r:embed="rId1"/>
            <a:stretch>
              <a:fillRect l="-723" t="-1825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bg-BG" sz="2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47" dur="indefinite" restart="never" nodeType="tmRoot">
          <p:childTnLst>
            <p:seq>
              <p:cTn id="448" dur="indefinite" nodeType="mainSeq">
                <p:childTnLst>
                  <p:par>
                    <p:cTn id="449" fill="hold">
                      <p:stCondLst>
                        <p:cond delay="indefinite"/>
                      </p:stCondLst>
                      <p:childTnLst>
                        <p:par>
                          <p:cTn id="450" fill="hold">
                            <p:stCondLst>
                              <p:cond delay="0"/>
                            </p:stCondLst>
                            <p:childTnLst>
                              <p:par>
                                <p:cTn id="4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3" fill="hold">
                      <p:stCondLst>
                        <p:cond delay="indefinite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7" fill="hold">
                      <p:stCondLst>
                        <p:cond delay="indefinite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1" fill="hold">
                      <p:stCondLst>
                        <p:cond delay="indefinite"/>
                      </p:stCondLst>
                      <p:childTnLst>
                        <p:par>
                          <p:cTn id="462" fill="hold">
                            <p:stCondLst>
                              <p:cond delay="0"/>
                            </p:stCondLst>
                            <p:childTnLst>
                              <p:par>
                                <p:cTn id="4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5" fill="hold">
                      <p:stCondLst>
                        <p:cond delay="indefinite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9" fill="hold">
                      <p:stCondLst>
                        <p:cond delay="indefinite"/>
                      </p:stCondLst>
                      <p:childTnLst>
                        <p:par>
                          <p:cTn id="470" fill="hold">
                            <p:stCondLst>
                              <p:cond delay="0"/>
                            </p:stCondLst>
                            <p:childTnLst>
                              <p:par>
                                <p:cTn id="4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dk1"/>
                </a:solidFill>
                <a:latin typeface="Calibri Light"/>
              </a:rPr>
              <a:t>Decays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/>
          </p:nvPr>
        </p:nvSpPr>
        <p:spPr>
          <a:xfrm>
            <a:off x="838080" y="1017000"/>
            <a:ext cx="10515240" cy="5280840"/>
          </a:xfrm>
          <a:prstGeom prst="rect">
            <a:avLst/>
          </a:prstGeom>
          <a:blipFill rotWithShape="0">
            <a:blip r:embed="rId1"/>
            <a:stretch>
              <a:fillRect l="-1" r="-1" b="-231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bg-BG" sz="2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73" dur="indefinite" restart="never" nodeType="tmRoot">
          <p:childTnLst>
            <p:seq>
              <p:cTn id="474" dur="indefinite" nodeType="mainSeq">
                <p:childTnLst>
                  <p:par>
                    <p:cTn id="475" fill="hold">
                      <p:stCondLst>
                        <p:cond delay="indefinite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9" fill="hold">
                      <p:stCondLst>
                        <p:cond delay="indefinite"/>
                      </p:stCondLst>
                      <p:childTnLst>
                        <p:par>
                          <p:cTn id="480" fill="hold">
                            <p:stCondLst>
                              <p:cond delay="0"/>
                            </p:stCondLst>
                            <p:childTnLst>
                              <p:par>
                                <p:cTn id="4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3" fill="hold">
                      <p:stCondLst>
                        <p:cond delay="indefinite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7" fill="hold">
                      <p:stCondLst>
                        <p:cond delay="indefinite"/>
                      </p:stCondLst>
                      <p:childTnLst>
                        <p:par>
                          <p:cTn id="488" fill="hold">
                            <p:stCondLst>
                              <p:cond delay="0"/>
                            </p:stCondLst>
                            <p:childTnLst>
                              <p:par>
                                <p:cTn id="4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1" fill="hold">
                      <p:stCondLst>
                        <p:cond delay="indefinite"/>
                      </p:stCondLst>
                      <p:childTnLst>
                        <p:par>
                          <p:cTn id="492" fill="hold">
                            <p:stCondLst>
                              <p:cond delay="0"/>
                            </p:stCondLst>
                            <p:childTnLst>
                              <p:par>
                                <p:cTn id="4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dk1"/>
                </a:solidFill>
                <a:latin typeface="Calibri Light"/>
              </a:rPr>
              <a:t>Decays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blipFill rotWithShape="0">
            <a:blip r:embed="rId1"/>
            <a:stretch>
              <a:fillRect l="-1" t="-2523" r="-1"/>
            </a:stretch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bg-BG" sz="2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95" dur="indefinite" restart="never" nodeType="tmRoot">
          <p:childTnLst>
            <p:seq>
              <p:cTn id="496" dur="indefinite" nodeType="mainSeq">
                <p:childTnLst>
                  <p:par>
                    <p:cTn id="497" fill="hold">
                      <p:stCondLst>
                        <p:cond delay="indefinite"/>
                      </p:stCondLst>
                      <p:childTnLst>
                        <p:par>
                          <p:cTn id="498" fill="hold">
                            <p:stCondLst>
                              <p:cond delay="0"/>
                            </p:stCondLst>
                            <p:childTnLst>
                              <p:par>
                                <p:cTn id="4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dk1"/>
                </a:solidFill>
                <a:latin typeface="Calibri Light"/>
              </a:rPr>
              <a:t>Bayesian periodogram analysis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bg-BG" sz="2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01" dur="indefinite" restart="never" nodeType="tmRoot">
          <p:childTnLst>
            <p:seq>
              <p:cTn id="502" dur="indefinite" nodeType="mainSeq">
                <p:childTnLst>
                  <p:par>
                    <p:cTn id="503" fill="hold">
                      <p:stCondLst>
                        <p:cond delay="indefinite"/>
                      </p:stCondLst>
                      <p:childTnLst>
                        <p:par>
                          <p:cTn id="504" fill="hold">
                            <p:stCondLst>
                              <p:cond delay="0"/>
                            </p:stCondLst>
                            <p:childTnLst>
                              <p:par>
                                <p:cTn id="5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7" fill="hold">
                      <p:stCondLst>
                        <p:cond delay="indefinite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1" fill="hold">
                      <p:stCondLst>
                        <p:cond delay="indefinite"/>
                      </p:stCondLst>
                      <p:childTnLst>
                        <p:par>
                          <p:cTn id="512" fill="hold">
                            <p:stCondLst>
                              <p:cond delay="0"/>
                            </p:stCondLst>
                            <p:childTnLst>
                              <p:par>
                                <p:cTn id="5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dk1"/>
                </a:solidFill>
                <a:latin typeface="Calibri Light"/>
              </a:rPr>
              <a:t>Confidence intervals of forecast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bg-BG" sz="2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15" dur="indefinite" restart="never" nodeType="tmRoot">
          <p:childTnLst>
            <p:seq>
              <p:cTn id="516" dur="indefinite" nodeType="mainSeq">
                <p:childTnLst>
                  <p:par>
                    <p:cTn id="517" fill="hold">
                      <p:stCondLst>
                        <p:cond delay="indefinite"/>
                      </p:stCondLst>
                      <p:childTnLst>
                        <p:par>
                          <p:cTn id="518" fill="hold">
                            <p:stCondLst>
                              <p:cond delay="0"/>
                            </p:stCondLst>
                            <p:childTnLst>
                              <p:par>
                                <p:cTn id="5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1" fill="hold">
                      <p:stCondLst>
                        <p:cond delay="indefinite"/>
                      </p:stCondLst>
                      <p:childTnLst>
                        <p:par>
                          <p:cTn id="522" fill="hold">
                            <p:stCondLst>
                              <p:cond delay="0"/>
                            </p:stCondLst>
                            <p:childTnLst>
                              <p:par>
                                <p:cTn id="5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5" fill="hold">
                      <p:stCondLst>
                        <p:cond delay="indefinite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9" fill="hold">
                      <p:stCondLst>
                        <p:cond delay="indefinite"/>
                      </p:stCondLst>
                      <p:childTnLst>
                        <p:par>
                          <p:cTn id="530" fill="hold">
                            <p:stCondLst>
                              <p:cond delay="0"/>
                            </p:stCondLst>
                            <p:childTnLst>
                              <p:par>
                                <p:cTn id="5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3" fill="hold">
                      <p:stCondLst>
                        <p:cond delay="indefinite"/>
                      </p:stCondLst>
                      <p:childTnLst>
                        <p:par>
                          <p:cTn id="534" fill="hold">
                            <p:stCondLst>
                              <p:cond delay="0"/>
                            </p:stCondLst>
                            <p:childTnLst>
                              <p:par>
                                <p:cTn id="5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dk1"/>
                </a:solidFill>
                <a:latin typeface="Calibri Light"/>
              </a:rPr>
              <a:t>Confidence intervals of forecast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bg-BG" sz="2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37" dur="indefinite" restart="never" nodeType="tmRoot">
          <p:childTnLst>
            <p:seq>
              <p:cTn id="538" dur="indefinite" nodeType="mainSeq">
                <p:childTnLst>
                  <p:par>
                    <p:cTn id="539" fill="hold">
                      <p:stCondLst>
                        <p:cond delay="indefinite"/>
                      </p:stCondLst>
                      <p:childTnLst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id="5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3" fill="hold">
                      <p:stCondLst>
                        <p:cond delay="indefinite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7" fill="hold">
                      <p:stCondLst>
                        <p:cond delay="indefinite"/>
                      </p:stCondLst>
                      <p:childTnLst>
                        <p:par>
                          <p:cTn id="548" fill="hold">
                            <p:stCondLst>
                              <p:cond delay="0"/>
                            </p:stCondLst>
                            <p:childTnLst>
                              <p:par>
                                <p:cTn id="5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1" fill="hold">
                      <p:stCondLst>
                        <p:cond delay="indefinite"/>
                      </p:stCondLst>
                      <p:childTnLst>
                        <p:par>
                          <p:cTn id="552" fill="hold">
                            <p:stCondLst>
                              <p:cond delay="0"/>
                            </p:stCondLst>
                            <p:childTnLst>
                              <p:par>
                                <p:cTn id="5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dk1"/>
                </a:solidFill>
                <a:latin typeface="Calibri Light"/>
              </a:rPr>
              <a:t>Confidence intervals of forecast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bg-BG" sz="2800" spc="-1" strike="noStrike">
                <a:solidFill>
                  <a:srgbClr val="ffffff">
                    <a:alpha val="1000"/>
                  </a:srgbClr>
                </a:solidFill>
                <a:latin typeface="Calibri"/>
              </a:rPr>
              <a:t> 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55" dur="indefinite" restart="never" nodeType="tmRoot">
          <p:childTnLst>
            <p:seq>
              <p:cTn id="556" dur="indefinite" nodeType="mainSeq">
                <p:childTnLst>
                  <p:par>
                    <p:cTn id="557" fill="hold">
                      <p:stCondLst>
                        <p:cond delay="indefinite"/>
                      </p:stCondLst>
                      <p:childTnLst>
                        <p:par>
                          <p:cTn id="558" fill="hold">
                            <p:stCondLst>
                              <p:cond delay="0"/>
                            </p:stCondLst>
                            <p:childTnLst>
                              <p:par>
                                <p:cTn id="5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1" fill="hold">
                      <p:stCondLst>
                        <p:cond delay="indefinite"/>
                      </p:stCondLst>
                      <p:childTnLst>
                        <p:par>
                          <p:cTn id="562" fill="hold">
                            <p:stCondLst>
                              <p:cond delay="0"/>
                            </p:stCondLst>
                            <p:childTnLst>
                              <p:par>
                                <p:cTn id="5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5" fill="hold">
                      <p:stCondLst>
                        <p:cond delay="indefinite"/>
                      </p:stCondLst>
                      <p:childTnLst>
                        <p:par>
                          <p:cTn id="566" fill="hold">
                            <p:stCondLst>
                              <p:cond delay="0"/>
                            </p:stCondLst>
                            <p:childTnLst>
                              <p:par>
                                <p:cTn id="5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9" fill="hold">
                      <p:stCondLst>
                        <p:cond delay="indefinite"/>
                      </p:stCondLst>
                      <p:childTnLst>
                        <p:par>
                          <p:cTn id="570" fill="hold">
                            <p:stCondLst>
                              <p:cond delay="0"/>
                            </p:stCondLst>
                            <p:childTnLst>
                              <p:par>
                                <p:cTn id="5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3" fill="hold">
                      <p:stCondLst>
                        <p:cond delay="indefinite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id="5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7" fill="hold">
                      <p:stCondLst>
                        <p:cond delay="indefinite"/>
                      </p:stCondLst>
                      <p:childTnLst>
                        <p:par>
                          <p:cTn id="578" fill="hold">
                            <p:stCondLst>
                              <p:cond delay="0"/>
                            </p:stCondLst>
                            <p:childTnLst>
                              <p:par>
                                <p:cTn id="5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chemeClr val="dk1"/>
                </a:solidFill>
                <a:latin typeface="Calibri Light"/>
              </a:rPr>
              <a:t>References</a:t>
            </a:r>
            <a:endParaRPr b="0" lang="bg-BG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324360" y="1825560"/>
            <a:ext cx="11542680" cy="450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2485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Атанасов, А. 2018. Статистически методи за анализ на динамични редове. София: Издателски комплекс – УНСС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Величкова, Н. 1981. Статистически методи за изучаване и прогнозиране развитието на социално-икономическите явления. София: „Наука и изкуство“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pc="-1" strike="noStrike">
                <a:solidFill>
                  <a:schemeClr val="dk1"/>
                </a:solidFill>
                <a:latin typeface="Calibri"/>
              </a:rPr>
              <a:t>Харалампиев, К. Бейсовски подход за оценка на хармонични колебания с променлива амплитуда. Научна конференция с международно участие „Авангардни научни инструменти в управлението”, Равда, 2014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fr-FR" sz="2800" spc="-1" strike="noStrike">
                <a:solidFill>
                  <a:schemeClr val="dk1"/>
                </a:solidFill>
                <a:latin typeface="Calibri"/>
              </a:rPr>
              <a:t>Bretthorst, G., 1988. Bayesian Spectrum Analysis and Parameter Estimation. Berlin, Heidelberg: Springer-Verlag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Schwarz, G. 1978. Estimating the Dimension of a Model. The Annals of Statistics, Vol. 6, No. 2, 461-464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Stone, M. 1977. An Asymptotic Equivalence of Choice of Model by Cross-Validation and Akaike’s Criterion. Journal of the Royal Statistical Society. Series B (Methodological) , 1977, Vol. 39, No. 1 (1977), pp. 44-47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Stone, M. 1979. Comments on Model Selection Criteria of Akaike and Schwarz. Journal of the Royal Statistical Society. Series B (Methodological) , 1979, Vol. 41, No. 2 (1979), pp. 276-278</a:t>
            </a:r>
            <a:endParaRPr b="0" lang="bg-BG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847</TotalTime>
  <Application>LibreOffice/24.2.7.2$Linux_X86_64 LibreOffice_project/420$Build-2</Application>
  <AppVersion>15.0000</AppVersion>
  <Words>1043</Words>
  <Paragraphs>269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2023-07-16T13:32:30Z</dcterms:created>
  <dc:creator>Windows User</dc:creator>
  <dc:description/>
  <dc:language>en-US</dc:language>
  <cp:lastModifiedBy/>
  <dcterms:modified xsi:type="dcterms:W3CDTF">2026-06-23T16:25:49Z</dcterms:modified>
  <cp:revision>174</cp:revision>
  <dc:subject/>
  <dc:title>Time series analysis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53</vt:i4>
  </property>
</Properties>
</file>